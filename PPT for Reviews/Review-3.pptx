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56" r:id="rId5"/>
    <p:sldId id="271" r:id="rId6"/>
    <p:sldId id="296" r:id="rId7"/>
    <p:sldId id="299" r:id="rId8"/>
    <p:sldId id="300" r:id="rId9"/>
    <p:sldId id="303" r:id="rId10"/>
    <p:sldId id="306" r:id="rId11"/>
    <p:sldId id="302" r:id="rId12"/>
    <p:sldId id="307" r:id="rId13"/>
    <p:sldId id="308" r:id="rId14"/>
    <p:sldId id="309" r:id="rId15"/>
    <p:sldId id="310" r:id="rId16"/>
    <p:sldId id="29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oever" initials="w" lastIdx="1" clrIdx="0">
    <p:extLst>
      <p:ext uri="{19B8F6BF-5375-455C-9EA6-DF929625EA0E}">
        <p15:presenceInfo xmlns:p15="http://schemas.microsoft.com/office/powerpoint/2012/main" userId="whoev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D05F5-E71C-44A7-8955-002CACFCF6C6}" v="13" dt="2026-03-07T04:13:03.403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6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6490A-2B5A-4A78-88B4-B9069912938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C21B1-72C9-48EC-AE48-8F81FCB3C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99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" TargetMode="External"/><Relationship Id="rId3" Type="http://schemas.openxmlformats.org/officeDocument/2006/relationships/hyperlink" Target="https://iopscience.iop.org/article/10.1088/1742-6596/1302/3/032030/meta" TargetMode="External"/><Relationship Id="rId7" Type="http://schemas.openxmlformats.org/officeDocument/2006/relationships/hyperlink" Target="https://grafana.com/docs/" TargetMode="External"/><Relationship Id="rId2" Type="http://schemas.openxmlformats.org/officeDocument/2006/relationships/hyperlink" Target="https://www.mdpi.com/2076-3417/13/9/553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full/10.1145/3770177.3770292" TargetMode="External"/><Relationship Id="rId5" Type="http://schemas.openxmlformats.org/officeDocument/2006/relationships/hyperlink" Target="https://www.viirj.org/vol13issue1/56.pdf" TargetMode="External"/><Relationship Id="rId4" Type="http://schemas.openxmlformats.org/officeDocument/2006/relationships/hyperlink" Target="https://link.springer.com/article/10.1007/s12525-016-0219-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3506" y="857643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US" dirty="0"/>
              <a:t>Real-Time E-Commerce User Analytics and Recommendation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4376" y="2977295"/>
            <a:ext cx="5195394" cy="263463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MENTOR: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Dr N. Shirisha</a:t>
            </a:r>
            <a:r>
              <a:rPr lang="en-IN" altLang="en-US" dirty="0">
                <a:solidFill>
                  <a:schemeClr val="tx1">
                    <a:lumMod val="95000"/>
                  </a:schemeClr>
                </a:solidFill>
              </a:rPr>
              <a:t>,  </a:t>
            </a:r>
            <a:r>
              <a:rPr lang="en-IN" altLang="en-US" dirty="0" err="1">
                <a:solidFill>
                  <a:schemeClr val="tx1">
                    <a:lumMod val="95000"/>
                  </a:schemeClr>
                </a:solidFill>
              </a:rPr>
              <a:t>Assoc.Prof</a:t>
            </a:r>
            <a:r>
              <a:rPr lang="en-IN" altLang="en-US" dirty="0">
                <a:solidFill>
                  <a:schemeClr val="tx1">
                    <a:lumMod val="95000"/>
                  </a:schemeClr>
                </a:solidFill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BATCH NO: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8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TEAM MEMBERS:</a:t>
            </a:r>
          </a:p>
          <a:p>
            <a:r>
              <a:rPr lang="en-IN" dirty="0"/>
              <a:t>Krithik Reddy – 2320030234</a:t>
            </a:r>
            <a:br>
              <a:rPr lang="en-IN" dirty="0"/>
            </a:br>
            <a:r>
              <a:rPr lang="en-IN" dirty="0"/>
              <a:t>B Nishanth – 2320030119</a:t>
            </a:r>
            <a:br>
              <a:rPr lang="en-IN" dirty="0"/>
            </a:br>
            <a:r>
              <a:rPr lang="en-IN" dirty="0"/>
              <a:t>Sai Bharadwaj – 2320030482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329805" y="30353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3948" y="1093617"/>
            <a:ext cx="9724103" cy="912163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3948" y="2269067"/>
            <a:ext cx="8021813" cy="4233333"/>
          </a:xfrm>
        </p:spPr>
        <p:txBody>
          <a:bodyPr>
            <a:normAutofit/>
          </a:bodyPr>
          <a:lstStyle/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2 COMMENTS ADDRESSED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WISE IMPLEMENTATION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COMPARISION AND DISCUSSION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2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§"/>
            </a:pP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§"/>
            </a:pP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1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E257-8A76-FAE5-BE9D-AF1C24333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2623" y="105087"/>
            <a:ext cx="8991600" cy="594160"/>
          </a:xfrm>
        </p:spPr>
        <p:txBody>
          <a:bodyPr>
            <a:normAutofit fontScale="90000"/>
          </a:bodyPr>
          <a:lstStyle/>
          <a:p>
            <a:r>
              <a:rPr lang="en-IN" dirty="0"/>
              <a:t>REVIEW 2 COMMENTS ADDRESSED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7CD92-4B9D-13AF-4079-A1B121EEB3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F2FD4-9458-1E1D-C079-71DBE284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929" y="1831877"/>
            <a:ext cx="8991600" cy="48175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5E154C-1882-52E5-457B-C533EB12E695}"/>
              </a:ext>
            </a:extLst>
          </p:cNvPr>
          <p:cNvSpPr txBox="1"/>
          <p:nvPr/>
        </p:nvSpPr>
        <p:spPr>
          <a:xfrm>
            <a:off x="1600200" y="803897"/>
            <a:ext cx="32900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Redesigned the module and divided the tasks according to the module</a:t>
            </a:r>
          </a:p>
        </p:txBody>
      </p:sp>
    </p:spTree>
    <p:extLst>
      <p:ext uri="{BB962C8B-B14F-4D97-AF65-F5344CB8AC3E}">
        <p14:creationId xmlns:p14="http://schemas.microsoft.com/office/powerpoint/2010/main" val="218526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D1F8-E12E-F966-11D8-00210DEC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213" y="143875"/>
            <a:ext cx="7729728" cy="705066"/>
          </a:xfrm>
        </p:spPr>
        <p:txBody>
          <a:bodyPr>
            <a:normAutofit fontScale="90000"/>
          </a:bodyPr>
          <a:lstStyle/>
          <a:p>
            <a:r>
              <a:rPr lang="en-IN" dirty="0"/>
              <a:t>DATA INGESTION MODULE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057D8-5B74-9DD3-E4DC-7118C1833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D08B3ABB-2A49-0454-8472-CA536E3392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22494" y="3276600"/>
            <a:ext cx="3325906" cy="332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B3D4F7-94DC-ED65-2A32-28906B303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50" y="1117973"/>
            <a:ext cx="9926655" cy="559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7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5299-B760-6C85-7940-D66C4857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2872"/>
            <a:ext cx="7729728" cy="817387"/>
          </a:xfrm>
        </p:spPr>
        <p:txBody>
          <a:bodyPr/>
          <a:lstStyle/>
          <a:p>
            <a:r>
              <a:rPr lang="en-IN" dirty="0"/>
              <a:t>DATA INGESTION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9623-14F6-8CED-041D-466B0B02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3E495-5A70-A345-D471-D3C412C54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93" y="1191409"/>
            <a:ext cx="10153613" cy="553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3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430D-B0D7-97B7-1CAD-A5094EFBB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072" y="141346"/>
            <a:ext cx="7729728" cy="728230"/>
          </a:xfrm>
        </p:spPr>
        <p:txBody>
          <a:bodyPr>
            <a:normAutofit fontScale="90000"/>
          </a:bodyPr>
          <a:lstStyle/>
          <a:p>
            <a:r>
              <a:rPr lang="en-IN" dirty="0"/>
              <a:t>DATA ANALYTICS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70D5-473B-8323-D54E-C389415BC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55775-B8D9-8B44-C459-EABF1BE7C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48" y="1117973"/>
            <a:ext cx="9447776" cy="53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2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E0AC-BE5E-E782-AB29-E80F8585F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201" y="114916"/>
            <a:ext cx="7729728" cy="1188720"/>
          </a:xfrm>
        </p:spPr>
        <p:txBody>
          <a:bodyPr/>
          <a:lstStyle/>
          <a:p>
            <a:r>
              <a:rPr lang="en-IN" dirty="0"/>
              <a:t>DATA ANALYTICS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01D8-34E6-A400-9624-3629F47E9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D8760-3694-161D-20B5-7736F267B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2" y="1407459"/>
            <a:ext cx="9592235" cy="532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7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8434-5824-0A12-87C4-10AC0DA8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666" y="166833"/>
            <a:ext cx="7729728" cy="751023"/>
          </a:xfrm>
        </p:spPr>
        <p:txBody>
          <a:bodyPr/>
          <a:lstStyle/>
          <a:p>
            <a:r>
              <a:rPr lang="en-IN" dirty="0"/>
              <a:t>VISUALIZATION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4C4CF-80A6-6161-FABF-050EDAAD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20020-4ED5-B853-F9DF-B5E603F1A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817" y="1117973"/>
            <a:ext cx="9393095" cy="496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88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2889-0ED2-A16B-E7B3-D35E1173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55092"/>
            <a:ext cx="7729728" cy="828249"/>
          </a:xfrm>
        </p:spPr>
        <p:txBody>
          <a:bodyPr>
            <a:normAutofit/>
          </a:bodyPr>
          <a:lstStyle/>
          <a:p>
            <a:r>
              <a:rPr lang="en-IN" sz="2400" dirty="0"/>
              <a:t>Comparison EXISTING VS </a:t>
            </a:r>
            <a:r>
              <a:rPr lang="en-IN" sz="2400" dirty="0" err="1"/>
              <a:t>PROPOSEd</a:t>
            </a:r>
            <a:endParaRPr lang="en-IN" sz="2400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D2B7231-C421-F469-054F-915349F18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662" y="1481976"/>
            <a:ext cx="8148814" cy="492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43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1D26-1715-A78B-A333-D285FAD54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4763"/>
            <a:ext cx="7729728" cy="783425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A1E42-C2DB-CF44-4C8E-832456AD4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23" y="1192306"/>
            <a:ext cx="11833411" cy="55670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1. Real-Time Data Processing Performance</a:t>
            </a:r>
            <a:endParaRPr lang="en-IN" sz="1600" dirty="0"/>
          </a:p>
          <a:p>
            <a:pPr lvl="0"/>
            <a:r>
              <a:rPr lang="en-IN" sz="1600" dirty="0"/>
              <a:t>Successfully handled user clicks, purchases, sessions events </a:t>
            </a:r>
          </a:p>
          <a:p>
            <a:pPr lvl="0"/>
            <a:r>
              <a:rPr lang="en-IN" sz="1600" dirty="0"/>
              <a:t>System maintained </a:t>
            </a:r>
            <a:r>
              <a:rPr lang="en-IN" sz="1600" b="1" dirty="0"/>
              <a:t>stable throughput under continuous load</a:t>
            </a:r>
          </a:p>
          <a:p>
            <a:pPr marL="0" lvl="0" indent="0">
              <a:buNone/>
            </a:pPr>
            <a:r>
              <a:rPr lang="en-IN" dirty="0"/>
              <a:t> </a:t>
            </a:r>
            <a:r>
              <a:rPr lang="en-IN" b="1" dirty="0"/>
              <a:t>Result:</a:t>
            </a:r>
            <a:r>
              <a:rPr lang="en-IN" dirty="0"/>
              <a:t> Near real-time analytics pipeline achieved</a:t>
            </a:r>
            <a:endParaRPr lang="en-IN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E54CC-935B-6B98-4655-1D66B9A3EF18}"/>
              </a:ext>
            </a:extLst>
          </p:cNvPr>
          <p:cNvSpPr txBox="1"/>
          <p:nvPr/>
        </p:nvSpPr>
        <p:spPr>
          <a:xfrm>
            <a:off x="7464193" y="4278746"/>
            <a:ext cx="41775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4.Visualization &amp; Dashboard Insights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Using Grafana dashboards: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Real-time sales trends visualized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Live user activity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Product performance comparison charts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Result:</a:t>
            </a:r>
            <a:r>
              <a:rPr lang="en-IN" dirty="0"/>
              <a:t> Easy interpretation of complex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CBA3F-BB82-15E6-3979-815D3A8D7DC2}"/>
              </a:ext>
            </a:extLst>
          </p:cNvPr>
          <p:cNvSpPr txBox="1"/>
          <p:nvPr/>
        </p:nvSpPr>
        <p:spPr>
          <a:xfrm>
            <a:off x="7464193" y="1192306"/>
            <a:ext cx="49933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Machine Learning Model Performance</a:t>
            </a:r>
            <a:endParaRPr lang="en-IN" dirty="0"/>
          </a:p>
          <a:p>
            <a:r>
              <a:rPr lang="en-IN" dirty="0"/>
              <a:t>Implemented:</a:t>
            </a:r>
          </a:p>
          <a:p>
            <a:pPr lvl="0"/>
            <a:r>
              <a:rPr lang="en-IN" dirty="0"/>
              <a:t>Linear Regression → Sales prediction </a:t>
            </a:r>
          </a:p>
          <a:p>
            <a:pPr lvl="0"/>
            <a:r>
              <a:rPr lang="en-IN" dirty="0"/>
              <a:t>KNN → User segmentation </a:t>
            </a:r>
          </a:p>
          <a:p>
            <a:r>
              <a:rPr lang="en-IN" b="1" dirty="0"/>
              <a:t>Performance Metrics:</a:t>
            </a:r>
            <a:endParaRPr lang="en-IN" dirty="0"/>
          </a:p>
          <a:p>
            <a:pPr lvl="0"/>
            <a:r>
              <a:rPr lang="en-IN" dirty="0"/>
              <a:t>Linear Regression Accuracy (R² Score): </a:t>
            </a:r>
            <a:r>
              <a:rPr lang="en-IN" b="1" dirty="0"/>
              <a:t>0.82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KNN Classification Accuracy: </a:t>
            </a:r>
            <a:r>
              <a:rPr lang="en-IN" b="1" dirty="0"/>
              <a:t>85%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r>
              <a:rPr lang="en-IN" b="1" dirty="0"/>
              <a:t>Result:</a:t>
            </a:r>
            <a:r>
              <a:rPr lang="en-IN" dirty="0"/>
              <a:t> Reliable predictive insights for decision-making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C927B-4A95-5FE1-F5D3-4B9FB3610FB6}"/>
              </a:ext>
            </a:extLst>
          </p:cNvPr>
          <p:cNvSpPr txBox="1"/>
          <p:nvPr/>
        </p:nvSpPr>
        <p:spPr>
          <a:xfrm>
            <a:off x="161366" y="3844185"/>
            <a:ext cx="51143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2.User </a:t>
            </a:r>
            <a:r>
              <a:rPr lang="en-IN" b="1" dirty="0" err="1"/>
              <a:t>Behavior</a:t>
            </a:r>
            <a:r>
              <a:rPr lang="en-IN" b="1" dirty="0"/>
              <a:t> Analytics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Identified </a:t>
            </a:r>
            <a:r>
              <a:rPr lang="en-IN" b="1" dirty="0"/>
              <a:t>top user interaction patterns</a:t>
            </a:r>
            <a:r>
              <a:rPr lang="en-IN" dirty="0"/>
              <a:t>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Peak activity time: Evening (6 PM – 10 PM)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Most viewed category: Electronics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Session tracking enabled </a:t>
            </a:r>
            <a:r>
              <a:rPr lang="en-IN" b="1" dirty="0"/>
              <a:t>accurate user journey mapping</a:t>
            </a:r>
            <a:r>
              <a:rPr lang="en-IN" dirty="0"/>
              <a:t> </a:t>
            </a:r>
          </a:p>
          <a:p>
            <a:endParaRPr lang="en-IN" b="1" dirty="0"/>
          </a:p>
          <a:p>
            <a:r>
              <a:rPr lang="en-IN" b="1" dirty="0"/>
              <a:t>Result:</a:t>
            </a:r>
            <a:r>
              <a:rPr lang="en-IN" dirty="0"/>
              <a:t> Improved understanding of customer </a:t>
            </a:r>
            <a:r>
              <a:rPr lang="en-IN" dirty="0" err="1"/>
              <a:t>behavior</a:t>
            </a:r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41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DBE8-7347-8292-AEAD-E3E311F9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3044"/>
            <a:ext cx="7729728" cy="693780"/>
          </a:xfrm>
        </p:spPr>
        <p:txBody>
          <a:bodyPr>
            <a:normAutofit fontScale="90000"/>
          </a:bodyPr>
          <a:lstStyle/>
          <a:p>
            <a:r>
              <a:rPr lang="en-IN" dirty="0"/>
              <a:t>FUTURE DIRECTION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CC16-F93B-236F-AF92-FA6AC185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41" y="1290918"/>
            <a:ext cx="11394141" cy="536985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1. Advanced AI/ML Integration</a:t>
            </a:r>
          </a:p>
          <a:p>
            <a:r>
              <a:rPr lang="en-IN" dirty="0"/>
              <a:t>Implement </a:t>
            </a:r>
            <a:r>
              <a:rPr lang="en-IN" b="1" dirty="0"/>
              <a:t>Deep Learning models (LSTM, Transformers)</a:t>
            </a:r>
            <a:r>
              <a:rPr lang="en-IN" dirty="0"/>
              <a:t> for better demand forecasting </a:t>
            </a:r>
          </a:p>
          <a:p>
            <a:r>
              <a:rPr lang="en-IN" dirty="0"/>
              <a:t>Add </a:t>
            </a:r>
            <a:r>
              <a:rPr lang="en-IN" b="1" dirty="0"/>
              <a:t>Recommendation Systems</a:t>
            </a:r>
            <a:r>
              <a:rPr lang="en-IN" dirty="0"/>
              <a:t> (collaborative + content-based filtering)</a:t>
            </a:r>
            <a:br>
              <a:rPr lang="en-IN" dirty="0"/>
            </a:br>
            <a:r>
              <a:rPr lang="en-IN" dirty="0"/>
              <a:t> More personalized user experience and higher conversions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2. Predictive &amp; Prescriptive Analytics</a:t>
            </a:r>
          </a:p>
          <a:p>
            <a:r>
              <a:rPr lang="en-IN" dirty="0"/>
              <a:t>Move from descriptive → </a:t>
            </a:r>
            <a:r>
              <a:rPr lang="en-IN" b="1" dirty="0"/>
              <a:t>predictive + prescriptive analytics</a:t>
            </a:r>
            <a:r>
              <a:rPr lang="en-IN" dirty="0"/>
              <a:t> </a:t>
            </a:r>
          </a:p>
          <a:p>
            <a:r>
              <a:rPr lang="en-IN" dirty="0"/>
              <a:t>Suggest </a:t>
            </a:r>
            <a:r>
              <a:rPr lang="en-IN" b="1" dirty="0"/>
              <a:t>optimal pricing, inventory levels, and marketing strategies</a:t>
            </a:r>
            <a:br>
              <a:rPr lang="en-IN" dirty="0"/>
            </a:br>
            <a:r>
              <a:rPr lang="en-IN" dirty="0"/>
              <a:t> Data-driven automated decision-making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3. Real-Time Fraud Detection</a:t>
            </a:r>
          </a:p>
          <a:p>
            <a:r>
              <a:rPr lang="en-IN" dirty="0"/>
              <a:t>Integrate anomaly detection models for </a:t>
            </a:r>
            <a:r>
              <a:rPr lang="en-IN" b="1" dirty="0"/>
              <a:t>fraudulent transactions</a:t>
            </a:r>
            <a:r>
              <a:rPr lang="en-IN" dirty="0"/>
              <a:t> </a:t>
            </a:r>
          </a:p>
          <a:p>
            <a:r>
              <a:rPr lang="en-IN" dirty="0"/>
              <a:t>Use streaming analysis with Apache Flink for instant alerts</a:t>
            </a:r>
            <a:br>
              <a:rPr lang="en-IN" dirty="0"/>
            </a:br>
            <a:r>
              <a:rPr lang="en-IN" dirty="0"/>
              <a:t>improved security and trust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4. Scalability Enhancements</a:t>
            </a:r>
          </a:p>
          <a:p>
            <a:r>
              <a:rPr lang="en-IN" dirty="0"/>
              <a:t>Deploy using </a:t>
            </a:r>
            <a:r>
              <a:rPr lang="en-IN" b="1" dirty="0"/>
              <a:t>cloud-native architecture (AWS / Azure / GCP)</a:t>
            </a:r>
            <a:r>
              <a:rPr lang="en-IN" dirty="0"/>
              <a:t> </a:t>
            </a:r>
          </a:p>
          <a:p>
            <a:r>
              <a:rPr lang="en-IN" dirty="0"/>
              <a:t>Use containerization (</a:t>
            </a:r>
            <a:r>
              <a:rPr lang="en-IN" b="1" dirty="0"/>
              <a:t>Docker + Kubernetes</a:t>
            </a:r>
            <a:r>
              <a:rPr lang="en-IN" dirty="0"/>
              <a:t>) for auto-scaling</a:t>
            </a:r>
            <a:br>
              <a:rPr lang="en-IN" dirty="0"/>
            </a:br>
            <a:r>
              <a:rPr lang="en-IN" dirty="0"/>
              <a:t> Handle millions of concurrent users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3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D285-7A8C-046F-2D74-F8475D28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29586"/>
            <a:ext cx="7729728" cy="747567"/>
          </a:xfrm>
        </p:spPr>
        <p:txBody>
          <a:bodyPr>
            <a:normAutofit fontScale="90000"/>
          </a:bodyPr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3D6D-53F2-F3E2-D3F1-AC968A9D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53" y="1057835"/>
            <a:ext cx="10999694" cy="54326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AI-Driven Recommendations</a:t>
            </a:r>
            <a:br>
              <a:rPr lang="en-IN" dirty="0"/>
            </a:br>
            <a:r>
              <a:rPr lang="en-IN" dirty="0"/>
              <a:t>Sabina-Cristiana Necula   </a:t>
            </a:r>
            <a:r>
              <a:rPr lang="en-IN" dirty="0">
                <a:hlinkClick r:id="rId2"/>
              </a:rPr>
              <a:t>LINK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The Application of Artificial Intelligence in Electronic Commerce</a:t>
            </a:r>
            <a:br>
              <a:rPr lang="en-IN" dirty="0"/>
            </a:br>
            <a:r>
              <a:rPr lang="en-IN" dirty="0"/>
              <a:t>Xia Song et al.     </a:t>
            </a:r>
            <a:r>
              <a:rPr lang="en-IN" dirty="0">
                <a:hlinkClick r:id="rId3"/>
              </a:rPr>
              <a:t>LINK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Big Data Analytics in E-Commerce</a:t>
            </a:r>
            <a:br>
              <a:rPr lang="en-IN" dirty="0"/>
            </a:br>
            <a:r>
              <a:rPr lang="en-IN" dirty="0"/>
              <a:t>Samuel Fosso Wamba  </a:t>
            </a:r>
            <a:r>
              <a:rPr lang="en-IN" dirty="0">
                <a:hlinkClick r:id="rId4"/>
              </a:rPr>
              <a:t>LINK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The Increasing Importance of AI Applications in E-Commerce</a:t>
            </a:r>
            <a:br>
              <a:rPr lang="en-IN" dirty="0"/>
            </a:br>
            <a:r>
              <a:rPr lang="en-IN" dirty="0"/>
              <a:t>A.A. Nimbalkar, A.T. </a:t>
            </a:r>
            <a:r>
              <a:rPr lang="en-IN" dirty="0" err="1"/>
              <a:t>Berad</a:t>
            </a:r>
            <a:r>
              <a:rPr lang="en-IN" dirty="0"/>
              <a:t>   </a:t>
            </a:r>
            <a:r>
              <a:rPr lang="en-IN" dirty="0">
                <a:hlinkClick r:id="rId5"/>
              </a:rPr>
              <a:t>LINK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User-Centric Internal Tools in E-Commerce</a:t>
            </a:r>
            <a:br>
              <a:rPr lang="en-IN" dirty="0"/>
            </a:br>
            <a:r>
              <a:rPr lang="en-IN" dirty="0"/>
              <a:t>Xue Song    </a:t>
            </a:r>
            <a:r>
              <a:rPr lang="en-IN" dirty="0">
                <a:hlinkClick r:id="rId6"/>
              </a:rPr>
              <a:t>LINK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Grafana Documentation </a:t>
            </a:r>
            <a:r>
              <a:rPr lang="en-IN" dirty="0">
                <a:hlinkClick r:id="rId7"/>
              </a:rPr>
              <a:t>LINK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Python Documentation  </a:t>
            </a:r>
            <a:r>
              <a:rPr lang="en-IN" dirty="0">
                <a:hlinkClick r:id="rId8"/>
              </a:rPr>
              <a:t>LINK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13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38D9977-3599-9D98-5444-768A6924E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9975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EFFDD5A31A24687351D2C1139D42D" ma:contentTypeVersion="11" ma:contentTypeDescription="Create a new document." ma:contentTypeScope="" ma:versionID="84e9f9815432960e922f320ac644d3af">
  <xsd:schema xmlns:xsd="http://www.w3.org/2001/XMLSchema" xmlns:xs="http://www.w3.org/2001/XMLSchema" xmlns:p="http://schemas.microsoft.com/office/2006/metadata/properties" xmlns:ns3="81ca784a-0ff6-4974-862d-25559d747f51" targetNamespace="http://schemas.microsoft.com/office/2006/metadata/properties" ma:root="true" ma:fieldsID="742f5cd2aee56ac442084fec3c83b312" ns3:_="">
    <xsd:import namespace="81ca784a-0ff6-4974-862d-25559d747f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a784a-0ff6-4974-862d-25559d747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ca784a-0ff6-4974-862d-25559d747f51" xsi:nil="true"/>
  </documentManagement>
</p:properties>
</file>

<file path=customXml/itemProps1.xml><?xml version="1.0" encoding="utf-8"?>
<ds:datastoreItem xmlns:ds="http://schemas.openxmlformats.org/officeDocument/2006/customXml" ds:itemID="{763270E6-BB00-4F57-8E7A-C62FC89ABF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A6C17C-3807-43B5-B952-73D8BB30C6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ca784a-0ff6-4974-862d-25559d747f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06CE5C-4A68-481C-BE53-2B86A3F40313}">
  <ds:schemaRefs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81ca784a-0ff6-4974-862d-25559d747f51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1233</TotalTime>
  <Words>431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Gill Sans MT</vt:lpstr>
      <vt:lpstr>Times New Roman</vt:lpstr>
      <vt:lpstr>Wingdings</vt:lpstr>
      <vt:lpstr>Parcel</vt:lpstr>
      <vt:lpstr>Real-Time E-Commerce User Analytics and Recommendation System</vt:lpstr>
      <vt:lpstr>Table of contents</vt:lpstr>
      <vt:lpstr>REVIEW 2 COMMENTS ADDRESSED</vt:lpstr>
      <vt:lpstr>DATA INGESTION MODULE</vt:lpstr>
      <vt:lpstr>DATA INGESTION MODULE</vt:lpstr>
      <vt:lpstr>DATA ANALYTICS MODULE</vt:lpstr>
      <vt:lpstr>DATA ANALYTICS MODULE</vt:lpstr>
      <vt:lpstr>VISUALIZATION MODULE</vt:lpstr>
      <vt:lpstr>Comparison EXISTING VS PROPOSEd</vt:lpstr>
      <vt:lpstr>RESULTS</vt:lpstr>
      <vt:lpstr>FUTURE DIRECTION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Preserving performance of ml models using MLOps</dc:title>
  <dc:creator>Varshika Dasari</dc:creator>
  <cp:lastModifiedBy>Krithik Reddy ..</cp:lastModifiedBy>
  <cp:revision>24</cp:revision>
  <dcterms:created xsi:type="dcterms:W3CDTF">2022-09-15T19:17:00Z</dcterms:created>
  <dcterms:modified xsi:type="dcterms:W3CDTF">2026-04-01T04:14:29Z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3936C35BB73A4955AF09C77BF7191492</vt:lpwstr>
  </property>
  <property fmtid="{D5CDD505-2E9C-101B-9397-08002B2CF9AE}" pid="3" name="KSOProductBuildVer">
    <vt:lpwstr>1033-11.2.0.11306</vt:lpwstr>
  </property>
  <property fmtid="{D5CDD505-2E9C-101B-9397-08002B2CF9AE}" pid="4" name="ContentTypeId">
    <vt:lpwstr>0x010100AAAEFFDD5A31A24687351D2C1139D42D</vt:lpwstr>
  </property>
</Properties>
</file>